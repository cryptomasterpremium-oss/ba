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64D87D-41B9-495A-BA21-F3A1877B3C8D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71" autoAdjust="0"/>
  </p:normalViewPr>
  <p:slideViewPr>
    <p:cSldViewPr>
      <p:cViewPr varScale="1">
        <p:scale>
          <a:sx n="108" d="100"/>
          <a:sy n="108" d="100"/>
        </p:scale>
        <p:origin x="172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7962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29D1-C73A-4E72-BD2E-C2003707C82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90F8C-6847-423A-8FFE-D206FFC07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4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58" y="6324600"/>
            <a:ext cx="345599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158" y="6324600"/>
            <a:ext cx="345599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01" y="6324600"/>
            <a:ext cx="345599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443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58" y="6324600"/>
            <a:ext cx="345599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01" y="6324600"/>
            <a:ext cx="345599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443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401" y="6324600"/>
            <a:ext cx="345599" cy="533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243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01" y="6324600"/>
            <a:ext cx="345599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443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01" y="6324600"/>
            <a:ext cx="345599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443" y="6324600"/>
            <a:ext cx="54315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81000"/>
            <a:ext cx="7772400" cy="1470025"/>
          </a:xfrm>
        </p:spPr>
        <p:txBody>
          <a:bodyPr/>
          <a:lstStyle/>
          <a:p>
            <a:r>
              <a:rPr lang="en-US" dirty="0"/>
              <a:t>Business Analytics </a:t>
            </a:r>
            <a:br>
              <a:rPr lang="en-US" dirty="0"/>
            </a:br>
            <a:r>
              <a:rPr lang="en-US" dirty="0"/>
              <a:t>Introduction </a:t>
            </a:r>
          </a:p>
        </p:txBody>
      </p:sp>
      <p:pic>
        <p:nvPicPr>
          <p:cNvPr id="1026" name="Picture 2" descr="http://www.bristol.ac.uk/maths/media/images/1image-scree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09800"/>
            <a:ext cx="4724400" cy="220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60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Business Analytics?</a:t>
            </a:r>
          </a:p>
          <a:p>
            <a:pPr eaLnBrk="1" hangingPunct="1"/>
            <a:r>
              <a:rPr lang="en-US" dirty="0"/>
              <a:t>Evolution of Business Analytics</a:t>
            </a:r>
          </a:p>
          <a:p>
            <a:pPr eaLnBrk="1" hangingPunct="1"/>
            <a:r>
              <a:rPr lang="en-US" dirty="0"/>
              <a:t>Scope of Business Analytics</a:t>
            </a:r>
          </a:p>
          <a:p>
            <a:pPr eaLnBrk="1" hangingPunct="1"/>
            <a:r>
              <a:rPr lang="en-US" dirty="0"/>
              <a:t>Data for Business Analytics</a:t>
            </a:r>
          </a:p>
          <a:p>
            <a:pPr eaLnBrk="1" hangingPunct="1"/>
            <a:r>
              <a:rPr lang="en-US" dirty="0"/>
              <a:t>Decision Models</a:t>
            </a:r>
          </a:p>
          <a:p>
            <a:pPr eaLnBrk="1" hangingPunct="1"/>
            <a:r>
              <a:rPr lang="en-US" dirty="0"/>
              <a:t>Problem Solving and Decision Making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ja-JP" b="1" dirty="0">
                <a:ea typeface="ＭＳ Ｐゴシック" charset="-128"/>
              </a:rPr>
              <a:t>Learning Objectives</a:t>
            </a:r>
            <a:endParaRPr lang="en-US" dirty="0"/>
          </a:p>
        </p:txBody>
      </p:sp>
      <p:sp>
        <p:nvSpPr>
          <p:cNvPr id="2970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DDC0297C-6BAB-4E8A-B572-68A6317C65B5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140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sz="2800" b="1"/>
              <a:t>Analytics</a:t>
            </a:r>
            <a:r>
              <a:rPr lang="en-US" sz="2800"/>
              <a:t> is the use of: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	data,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	information technology,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	statistical analysis,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	quantitative methods, and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	mathematical or computer-based models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to help managers gain improved insight about their business operations and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/>
              <a:t>make better, fact-based decisions.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What is Business Analytics?</a:t>
            </a:r>
          </a:p>
        </p:txBody>
      </p:sp>
      <p:sp>
        <p:nvSpPr>
          <p:cNvPr id="3072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65CBDD9B-04C7-4A3D-9EE2-5674522A911F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353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u="sng" dirty="0">
                <a:ea typeface="+mn-ea"/>
                <a:cs typeface="+mn-cs"/>
              </a:rPr>
              <a:t>Business Analytics Applications</a:t>
            </a:r>
            <a:endParaRPr lang="en-US" u="sng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Management of customer relationships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Financial and marketing activities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Supply chain management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Human resource planning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Pricing decisions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Sport team game strategies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What is Business Analytics?</a:t>
            </a:r>
          </a:p>
        </p:txBody>
      </p:sp>
      <p:sp>
        <p:nvSpPr>
          <p:cNvPr id="3174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FD697E7A-8CB1-44A0-8BE8-262E85672F6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9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u="sng" dirty="0">
                <a:ea typeface="+mn-ea"/>
                <a:cs typeface="+mn-cs"/>
              </a:rPr>
              <a:t>Importance of Business Analytics</a:t>
            </a:r>
            <a:endParaRPr lang="en-US" u="sng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There is a strong relationship of BA with: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profitability of businesses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revenue of businesses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shareholder return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BA enhances understanding of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BA is vital for businesses to remain competitive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BA enables creation of informative reports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What is Business Analytics?</a:t>
            </a:r>
          </a:p>
        </p:txBody>
      </p:sp>
      <p:sp>
        <p:nvSpPr>
          <p:cNvPr id="3277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AFBD827-F054-45EE-A042-21F777F8487A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366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Operations research</a:t>
            </a:r>
          </a:p>
          <a:p>
            <a:pPr eaLnBrk="1" hangingPunct="1"/>
            <a:r>
              <a:rPr lang="en-US"/>
              <a:t>Management science</a:t>
            </a:r>
          </a:p>
          <a:p>
            <a:pPr eaLnBrk="1" hangingPunct="1"/>
            <a:r>
              <a:rPr lang="en-US"/>
              <a:t>Business intelligence</a:t>
            </a:r>
          </a:p>
          <a:p>
            <a:pPr eaLnBrk="1" hangingPunct="1"/>
            <a:r>
              <a:rPr lang="en-US"/>
              <a:t>Decision support systems</a:t>
            </a:r>
          </a:p>
          <a:p>
            <a:pPr eaLnBrk="1" hangingPunct="1"/>
            <a:r>
              <a:rPr lang="en-US"/>
              <a:t>Personal computer software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Evolution of Business Analytics</a:t>
            </a:r>
          </a:p>
        </p:txBody>
      </p:sp>
      <p:sp>
        <p:nvSpPr>
          <p:cNvPr id="3379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7A0B61E0-EF86-4076-9564-3B14BDA02E03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814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Descriptive analytics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uses data to understand past and present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Predictive analytics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analyzes past performance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Prescriptive analytics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	- uses optimization techniques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Scope of Business Analytics</a:t>
            </a:r>
          </a:p>
        </p:txBody>
      </p:sp>
      <p:sp>
        <p:nvSpPr>
          <p:cNvPr id="3482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7252445-6B2D-47DB-AD82-C0C92F061FF4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331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Example 1.1    Retail Markdown Decisions</a:t>
            </a: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Most department stores clear seasonal inventory by reducing prices.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The question is:</a:t>
            </a:r>
          </a:p>
          <a:p>
            <a:pPr marL="109728" indent="0" eaLnBrk="1" fontAlgn="auto" hangingPunct="1">
              <a:spcBef>
                <a:spcPts val="0"/>
              </a:spcBef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When to reduce the price and by how much?</a:t>
            </a:r>
          </a:p>
          <a:p>
            <a:pPr marL="365760" indent="-256032" eaLnBrk="1" fontAlgn="auto" hangingPunct="1">
              <a:spcBef>
                <a:spcPts val="1200"/>
              </a:spcBef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Descriptive analytics: examine historical data for similar products (prices, units sold, advertising, …)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Predictive analytics: predict sales based on price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Prescriptive analytics: find the best sets of pricing and advertising to maximize sales revenue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Scope of Business Analytics</a:t>
            </a:r>
          </a:p>
        </p:txBody>
      </p:sp>
      <p:sp>
        <p:nvSpPr>
          <p:cNvPr id="3584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05BF966-BD69-4F4A-902E-ECBD672D303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7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Scope of Business Analytics</a:t>
            </a:r>
          </a:p>
        </p:txBody>
      </p:sp>
      <p:sp>
        <p:nvSpPr>
          <p:cNvPr id="36867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CC41EADB-E0B0-451D-95F0-1CEC58813D1D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3686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u="sng" dirty="0"/>
              <a:t>Analytics in Practice: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u="sng" dirty="0"/>
              <a:t>Harrah’s Entertainment</a:t>
            </a:r>
          </a:p>
          <a:p>
            <a:pPr marL="109538" indent="0" eaLnBrk="1" hangingPunct="1">
              <a:lnSpc>
                <a:spcPct val="90000"/>
              </a:lnSpc>
            </a:pPr>
            <a:r>
              <a:rPr lang="en-US" dirty="0"/>
              <a:t>Harrah’s owns numerous hotels and casinos</a:t>
            </a:r>
          </a:p>
          <a:p>
            <a:pPr marL="109538" indent="0" eaLnBrk="1" hangingPunct="1">
              <a:lnSpc>
                <a:spcPct val="90000"/>
              </a:lnSpc>
            </a:pPr>
            <a:r>
              <a:rPr lang="en-US" dirty="0"/>
              <a:t>Uses analytics to: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dirty="0"/>
              <a:t>     - forecast demand for rooms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dirty="0"/>
              <a:t>     - segment customers by gaming activities</a:t>
            </a:r>
          </a:p>
          <a:p>
            <a:pPr marL="109538" indent="0" eaLnBrk="1" hangingPunct="1">
              <a:lnSpc>
                <a:spcPct val="90000"/>
              </a:lnSpc>
            </a:pPr>
            <a:r>
              <a:rPr lang="en-US" dirty="0"/>
              <a:t>Uses prescriptive models to: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dirty="0"/>
              <a:t>     - set room rates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dirty="0"/>
              <a:t>     - allocate rooms</a:t>
            </a:r>
          </a:p>
          <a:p>
            <a:pPr marL="109538" indent="0" eaLnBrk="1" hangingPunct="1">
              <a:lnSpc>
                <a:spcPct val="90000"/>
              </a:lnSpc>
              <a:buFont typeface="Wingdings 3" pitchFamily="-72" charset="2"/>
              <a:buNone/>
            </a:pPr>
            <a:r>
              <a:rPr lang="en-US" dirty="0"/>
              <a:t>     - offer perks and rewards to customers</a:t>
            </a:r>
          </a:p>
        </p:txBody>
      </p:sp>
    </p:spTree>
    <p:extLst>
      <p:ext uri="{BB962C8B-B14F-4D97-AF65-F5344CB8AC3E}">
        <p14:creationId xmlns:p14="http://schemas.microsoft.com/office/powerpoint/2010/main" val="359042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DATA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collected facts and figures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DATABASE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collection of computer files containing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INFORMATION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comes from analyzing data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3789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D0729C47-7195-4C96-B124-64C345858006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3098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Examples of using DATA in business</a:t>
            </a:r>
            <a:r>
              <a:rPr lang="en-US" dirty="0">
                <a:ea typeface="+mn-ea"/>
                <a:cs typeface="+mn-cs"/>
              </a:rPr>
              <a:t>: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Annual reports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Accounting audits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Financial profitability analysis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Economic trends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Marketing research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Operations management performance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Human resource measurements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3891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53FF9A45-A8A6-4390-ABB8-62912C10B63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9203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Metrics</a:t>
            </a:r>
            <a:r>
              <a:rPr lang="en-US" b="1" dirty="0"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are used to quantify performance.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Measures</a:t>
            </a:r>
            <a:r>
              <a:rPr lang="en-US" dirty="0">
                <a:ea typeface="+mn-ea"/>
                <a:cs typeface="+mn-cs"/>
              </a:rPr>
              <a:t> are numerical values of metrics.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Discrete</a:t>
            </a:r>
            <a:r>
              <a:rPr lang="en-US" dirty="0">
                <a:ea typeface="+mn-ea"/>
                <a:cs typeface="+mn-cs"/>
              </a:rPr>
              <a:t> metrics involve counting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on time or not on time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number or proportion of on time deliveries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Continuous</a:t>
            </a:r>
            <a:r>
              <a:rPr lang="en-US" dirty="0">
                <a:ea typeface="+mn-ea"/>
                <a:cs typeface="+mn-cs"/>
              </a:rPr>
              <a:t> metrics are measured on a continuum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delivery time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package weight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purchase price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3994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AD85A74E-1878-4ED2-A45C-788A2A48171C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983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/>
              <a:t>Example 1.2    A Sales Transaction Database File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096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EB0A1086-F709-4B00-8687-37F81F3C9BC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4096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33600"/>
            <a:ext cx="7467600" cy="282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6" name="TextBox 6"/>
          <p:cNvSpPr txBox="1">
            <a:spLocks noChangeArrowheads="1"/>
          </p:cNvSpPr>
          <p:nvPr/>
        </p:nvSpPr>
        <p:spPr bwMode="auto">
          <a:xfrm>
            <a:off x="7143750" y="5135563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1.1</a:t>
            </a:r>
          </a:p>
        </p:txBody>
      </p:sp>
      <p:sp>
        <p:nvSpPr>
          <p:cNvPr id="40967" name="TextBox 2"/>
          <p:cNvSpPr txBox="1">
            <a:spLocks noChangeArrowheads="1"/>
          </p:cNvSpPr>
          <p:nvPr/>
        </p:nvSpPr>
        <p:spPr bwMode="auto">
          <a:xfrm>
            <a:off x="838200" y="5432425"/>
            <a:ext cx="93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Entities</a:t>
            </a:r>
          </a:p>
        </p:txBody>
      </p:sp>
      <p:cxnSp>
        <p:nvCxnSpPr>
          <p:cNvPr id="6" name="Straight Arrow Connector 5"/>
          <p:cNvCxnSpPr>
            <a:stCxn id="40967" idx="0"/>
          </p:cNvCxnSpPr>
          <p:nvPr/>
        </p:nvCxnSpPr>
        <p:spPr>
          <a:xfrm flipV="1">
            <a:off x="1304925" y="4937125"/>
            <a:ext cx="0" cy="4953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/>
          <p:cNvSpPr/>
          <p:nvPr/>
        </p:nvSpPr>
        <p:spPr>
          <a:xfrm>
            <a:off x="7924800" y="2971800"/>
            <a:ext cx="152400" cy="190500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40970" name="TextBox 10"/>
          <p:cNvSpPr txBox="1">
            <a:spLocks noChangeArrowheads="1"/>
          </p:cNvSpPr>
          <p:nvPr/>
        </p:nvSpPr>
        <p:spPr bwMode="auto">
          <a:xfrm>
            <a:off x="7958138" y="3554413"/>
            <a:ext cx="1035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Records</a:t>
            </a:r>
          </a:p>
        </p:txBody>
      </p:sp>
      <p:sp>
        <p:nvSpPr>
          <p:cNvPr id="13" name="Left Brace 12"/>
          <p:cNvSpPr/>
          <p:nvPr/>
        </p:nvSpPr>
        <p:spPr>
          <a:xfrm rot="-5400000">
            <a:off x="4572000" y="1935163"/>
            <a:ext cx="304800" cy="64008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40972" name="TextBox 14"/>
          <p:cNvSpPr txBox="1">
            <a:spLocks noChangeArrowheads="1"/>
          </p:cNvSpPr>
          <p:nvPr/>
        </p:nvSpPr>
        <p:spPr bwMode="auto">
          <a:xfrm>
            <a:off x="3886200" y="5351463"/>
            <a:ext cx="208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Fields or Attributes</a:t>
            </a:r>
          </a:p>
        </p:txBody>
      </p:sp>
    </p:spTree>
    <p:extLst>
      <p:ext uri="{BB962C8B-B14F-4D97-AF65-F5344CB8AC3E}">
        <p14:creationId xmlns:p14="http://schemas.microsoft.com/office/powerpoint/2010/main" val="226752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Four Types Data Based on Measurement Scale</a:t>
            </a:r>
            <a:r>
              <a:rPr lang="en-US" dirty="0">
                <a:ea typeface="+mn-ea"/>
                <a:cs typeface="+mn-cs"/>
              </a:rPr>
              <a:t>: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Categorical (nominal)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Ordinal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Interval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Ratio data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198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08655ED-4D22-4754-B038-A0F36B981B50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742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/>
              <a:t>Example 1.3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600" u="sng"/>
              <a:t>Classifying Data Elements in a Purchasing Database</a:t>
            </a:r>
            <a:endParaRPr lang="en-US" sz="26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301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471B2280-0CB9-4EF6-A23C-1E3B787A0B2D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4301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667000"/>
            <a:ext cx="8594725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4" name="TextBox 6"/>
          <p:cNvSpPr txBox="1">
            <a:spLocks noChangeArrowheads="1"/>
          </p:cNvSpPr>
          <p:nvPr/>
        </p:nvSpPr>
        <p:spPr bwMode="auto">
          <a:xfrm>
            <a:off x="8135938" y="5222875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1.2</a:t>
            </a:r>
          </a:p>
        </p:txBody>
      </p:sp>
    </p:spTree>
    <p:extLst>
      <p:ext uri="{BB962C8B-B14F-4D97-AF65-F5344CB8AC3E}">
        <p14:creationId xmlns:p14="http://schemas.microsoft.com/office/powerpoint/2010/main" val="2950924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1185862"/>
          </a:xfrm>
        </p:spPr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/>
              <a:t>Example 1.3  (continued)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600" u="sng"/>
              <a:t>Classifying Data Elements in a Purchasing Database</a:t>
            </a:r>
            <a:endParaRPr lang="en-US" sz="26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403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20095A84-A188-4B5C-85DD-245D0D80E6C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4403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667000"/>
            <a:ext cx="8594725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8" name="TextBox 9"/>
          <p:cNvSpPr txBox="1">
            <a:spLocks noChangeArrowheads="1"/>
          </p:cNvSpPr>
          <p:nvPr/>
        </p:nvSpPr>
        <p:spPr bwMode="auto">
          <a:xfrm rot="2700000">
            <a:off x="1840707" y="5469731"/>
            <a:ext cx="1339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Categorical</a:t>
            </a:r>
          </a:p>
        </p:txBody>
      </p:sp>
      <p:sp>
        <p:nvSpPr>
          <p:cNvPr id="44039" name="TextBox 10"/>
          <p:cNvSpPr txBox="1">
            <a:spLocks noChangeArrowheads="1"/>
          </p:cNvSpPr>
          <p:nvPr/>
        </p:nvSpPr>
        <p:spPr bwMode="auto">
          <a:xfrm rot="2700000">
            <a:off x="2445544" y="5476082"/>
            <a:ext cx="1339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Categorical</a:t>
            </a:r>
          </a:p>
        </p:txBody>
      </p:sp>
      <p:sp>
        <p:nvSpPr>
          <p:cNvPr id="44040" name="TextBox 11"/>
          <p:cNvSpPr txBox="1">
            <a:spLocks noChangeArrowheads="1"/>
          </p:cNvSpPr>
          <p:nvPr/>
        </p:nvSpPr>
        <p:spPr bwMode="auto">
          <a:xfrm rot="2700000">
            <a:off x="3326607" y="5471318"/>
            <a:ext cx="1339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Categorical</a:t>
            </a:r>
          </a:p>
        </p:txBody>
      </p:sp>
      <p:sp>
        <p:nvSpPr>
          <p:cNvPr id="44041" name="TextBox 12"/>
          <p:cNvSpPr txBox="1">
            <a:spLocks noChangeArrowheads="1"/>
          </p:cNvSpPr>
          <p:nvPr/>
        </p:nvSpPr>
        <p:spPr bwMode="auto">
          <a:xfrm rot="2700000">
            <a:off x="4368007" y="5257006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Ratio</a:t>
            </a:r>
          </a:p>
        </p:txBody>
      </p:sp>
      <p:sp>
        <p:nvSpPr>
          <p:cNvPr id="44042" name="TextBox 13"/>
          <p:cNvSpPr txBox="1">
            <a:spLocks noChangeArrowheads="1"/>
          </p:cNvSpPr>
          <p:nvPr/>
        </p:nvSpPr>
        <p:spPr bwMode="auto">
          <a:xfrm rot="2700000">
            <a:off x="900907" y="5469731"/>
            <a:ext cx="1339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Categorical</a:t>
            </a:r>
          </a:p>
        </p:txBody>
      </p:sp>
      <p:sp>
        <p:nvSpPr>
          <p:cNvPr id="44043" name="TextBox 14"/>
          <p:cNvSpPr txBox="1">
            <a:spLocks noChangeArrowheads="1"/>
          </p:cNvSpPr>
          <p:nvPr/>
        </p:nvSpPr>
        <p:spPr bwMode="auto">
          <a:xfrm rot="2700000">
            <a:off x="4906169" y="5291932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Ratio</a:t>
            </a:r>
          </a:p>
        </p:txBody>
      </p:sp>
      <p:sp>
        <p:nvSpPr>
          <p:cNvPr id="44044" name="TextBox 15"/>
          <p:cNvSpPr txBox="1">
            <a:spLocks noChangeArrowheads="1"/>
          </p:cNvSpPr>
          <p:nvPr/>
        </p:nvSpPr>
        <p:spPr bwMode="auto">
          <a:xfrm rot="2700000">
            <a:off x="5680869" y="5282407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Ratio</a:t>
            </a:r>
          </a:p>
        </p:txBody>
      </p:sp>
      <p:sp>
        <p:nvSpPr>
          <p:cNvPr id="44045" name="TextBox 16"/>
          <p:cNvSpPr txBox="1">
            <a:spLocks noChangeArrowheads="1"/>
          </p:cNvSpPr>
          <p:nvPr/>
        </p:nvSpPr>
        <p:spPr bwMode="auto">
          <a:xfrm rot="2700000">
            <a:off x="6579394" y="5271294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Ratio</a:t>
            </a:r>
          </a:p>
        </p:txBody>
      </p:sp>
      <p:sp>
        <p:nvSpPr>
          <p:cNvPr id="44046" name="TextBox 18"/>
          <p:cNvSpPr txBox="1">
            <a:spLocks noChangeArrowheads="1"/>
          </p:cNvSpPr>
          <p:nvPr/>
        </p:nvSpPr>
        <p:spPr bwMode="auto">
          <a:xfrm rot="2700000">
            <a:off x="7428707" y="5377656"/>
            <a:ext cx="93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Interval</a:t>
            </a:r>
          </a:p>
        </p:txBody>
      </p:sp>
      <p:sp>
        <p:nvSpPr>
          <p:cNvPr id="44047" name="TextBox 19"/>
          <p:cNvSpPr txBox="1">
            <a:spLocks noChangeArrowheads="1"/>
          </p:cNvSpPr>
          <p:nvPr/>
        </p:nvSpPr>
        <p:spPr bwMode="auto">
          <a:xfrm rot="2700000">
            <a:off x="8103394" y="5371307"/>
            <a:ext cx="93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Interval</a:t>
            </a:r>
          </a:p>
        </p:txBody>
      </p:sp>
      <p:sp>
        <p:nvSpPr>
          <p:cNvPr id="44048" name="TextBox 17"/>
          <p:cNvSpPr txBox="1">
            <a:spLocks noChangeArrowheads="1"/>
          </p:cNvSpPr>
          <p:nvPr/>
        </p:nvSpPr>
        <p:spPr bwMode="auto">
          <a:xfrm>
            <a:off x="228600" y="5192713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1.2</a:t>
            </a:r>
          </a:p>
        </p:txBody>
      </p:sp>
    </p:spTree>
    <p:extLst>
      <p:ext uri="{BB962C8B-B14F-4D97-AF65-F5344CB8AC3E}">
        <p14:creationId xmlns:p14="http://schemas.microsoft.com/office/powerpoint/2010/main" val="823575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Categorical (nominal) Data</a:t>
            </a: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Data placed in categories according to a specified characteristic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Categories bear no quantitative relationship to one another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Examples: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customer’s location (America, Europe, Asia)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employee classification (manager, supervisor,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  associate)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506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26FD3EE5-512E-46F2-B0B5-7C55FD5B518B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5798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Ordinal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Data that is ranked or ordered according to some relationship with one another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No fixed units of measurement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Examples: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college football rankings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survey responses 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  (poor, average, good, very good, excellent)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608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792D50E2-5B3C-497D-85EC-E8C4E54C80D7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4950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Interval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Ordinal data but with constant differences between observations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No true zero point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Ratios are not meaningful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Examples: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temperature readings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SAT scores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710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4339325D-C40A-4BCC-AE4C-CF6A714E96AA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3430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Ratio Data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Continuous values and have a natural zero point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Ratios are meaningful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Examples: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monthly sales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delivery times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Data for Business Analytics</a:t>
            </a:r>
          </a:p>
        </p:txBody>
      </p:sp>
      <p:sp>
        <p:nvSpPr>
          <p:cNvPr id="4813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E11284B-7D71-485D-B798-86135E23589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2072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Model</a:t>
            </a:r>
            <a:r>
              <a:rPr lang="en-US" dirty="0">
                <a:ea typeface="+mn-ea"/>
                <a:cs typeface="+mn-cs"/>
              </a:rPr>
              <a:t>: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An abstraction or representation of a real system, idea, or object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Captures the most important features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Can be a written or verbal description, a visual display, a mathematical formula, or a spreadsheet representation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4915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E7B2E48C-2B81-4658-97EC-959A74A2B71C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2950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1143000" y="381000"/>
            <a:ext cx="3390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Decision Models</a:t>
            </a:r>
            <a:endParaRPr lang="en-US"/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1143000" y="1143000"/>
            <a:ext cx="54054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u="sng"/>
              <a:t>Example 1.4   Three Forms of a Model</a:t>
            </a:r>
            <a:endParaRPr lang="en-US"/>
          </a:p>
          <a:p>
            <a:endParaRPr lang="en-US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1479550" y="1230313"/>
            <a:ext cx="667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1981200" y="1447800"/>
            <a:ext cx="5565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1676400" y="14478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7287" name="Rectangle 7"/>
          <p:cNvSpPr>
            <a:spLocks noChangeArrowheads="1"/>
          </p:cNvSpPr>
          <p:nvPr/>
        </p:nvSpPr>
        <p:spPr bwMode="auto">
          <a:xfrm>
            <a:off x="1066800" y="1676400"/>
            <a:ext cx="6459653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 sales of a new produce, such as a first-</a:t>
            </a:r>
          </a:p>
          <a:p>
            <a:r>
              <a:rPr lang="en-US" sz="2400" dirty="0"/>
              <a:t>generation </a:t>
            </a:r>
            <a:r>
              <a:rPr lang="en-US" sz="2400" dirty="0" err="1"/>
              <a:t>iPad</a:t>
            </a:r>
            <a:r>
              <a:rPr lang="en-US" sz="2400" dirty="0"/>
              <a:t> or 3D television, often follow a</a:t>
            </a:r>
          </a:p>
          <a:p>
            <a:r>
              <a:rPr lang="en-US" sz="2400" dirty="0"/>
              <a:t>common pattern.</a:t>
            </a:r>
          </a:p>
          <a:p>
            <a:pPr>
              <a:buFontTx/>
              <a:buChar char="•"/>
            </a:pPr>
            <a:r>
              <a:rPr lang="en-US" sz="2400" dirty="0"/>
              <a:t>  Sales might grow at an increasing rate over time</a:t>
            </a:r>
          </a:p>
          <a:p>
            <a:r>
              <a:rPr lang="en-US" sz="2400" dirty="0"/>
              <a:t>as positive customer feedback spreads.</a:t>
            </a:r>
          </a:p>
          <a:p>
            <a:r>
              <a:rPr lang="en-US" sz="2400" dirty="0"/>
              <a:t>(See the </a:t>
            </a:r>
            <a:r>
              <a:rPr lang="en-US" sz="2400" i="1" dirty="0"/>
              <a:t>S</a:t>
            </a:r>
            <a:r>
              <a:rPr lang="en-US" sz="2400" dirty="0"/>
              <a:t>-shaped curve on the following slide.)</a:t>
            </a:r>
          </a:p>
          <a:p>
            <a:pPr>
              <a:buFontTx/>
              <a:buChar char="•"/>
            </a:pPr>
            <a:r>
              <a:rPr lang="en-US" sz="2400" dirty="0"/>
              <a:t>  A mathematical model of the S-curve can be </a:t>
            </a:r>
          </a:p>
          <a:p>
            <a:r>
              <a:rPr lang="en-US" sz="2400" dirty="0"/>
              <a:t>identified; for example, </a:t>
            </a:r>
            <a:r>
              <a:rPr lang="en-US" sz="2400" i="1" dirty="0"/>
              <a:t>S</a:t>
            </a:r>
            <a:r>
              <a:rPr lang="en-US" sz="2400" dirty="0"/>
              <a:t> = </a:t>
            </a:r>
            <a:r>
              <a:rPr lang="en-US" sz="2400" i="1" dirty="0" err="1"/>
              <a:t>ae</a:t>
            </a:r>
            <a:r>
              <a:rPr lang="en-US" sz="2400" i="1" baseline="30000" dirty="0" err="1"/>
              <a:t>be</a:t>
            </a:r>
            <a:r>
              <a:rPr lang="en-US" sz="2400" i="1" baseline="46000" dirty="0" err="1"/>
              <a:t>ct</a:t>
            </a:r>
            <a:r>
              <a:rPr lang="en-US" sz="2400" dirty="0"/>
              <a:t>, where </a:t>
            </a:r>
            <a:r>
              <a:rPr lang="en-US" sz="2400" i="1" dirty="0"/>
              <a:t>S</a:t>
            </a:r>
            <a:r>
              <a:rPr lang="en-US" sz="2400" dirty="0"/>
              <a:t> is</a:t>
            </a:r>
          </a:p>
          <a:p>
            <a:r>
              <a:rPr lang="en-US" sz="2400" dirty="0"/>
              <a:t>sales, </a:t>
            </a:r>
            <a:r>
              <a:rPr lang="en-US" sz="2400" i="1" dirty="0"/>
              <a:t>t</a:t>
            </a:r>
            <a:r>
              <a:rPr lang="en-US" sz="2400" dirty="0"/>
              <a:t> is time, </a:t>
            </a:r>
            <a:r>
              <a:rPr lang="en-US" sz="2400" i="1" dirty="0"/>
              <a:t>e</a:t>
            </a:r>
            <a:r>
              <a:rPr lang="en-US" sz="2400" dirty="0"/>
              <a:t> is the base of natural logarithms,</a:t>
            </a:r>
          </a:p>
          <a:p>
            <a:r>
              <a:rPr lang="en-US" sz="2400" dirty="0"/>
              <a:t>and </a:t>
            </a:r>
            <a:r>
              <a:rPr lang="en-US" sz="2400" i="1" dirty="0"/>
              <a:t>a</a:t>
            </a:r>
            <a:r>
              <a:rPr lang="en-US" sz="2400" dirty="0"/>
              <a:t>, </a:t>
            </a:r>
            <a:r>
              <a:rPr lang="en-US" sz="2400" i="1" dirty="0"/>
              <a:t>b</a:t>
            </a:r>
            <a:r>
              <a:rPr lang="en-US" sz="2400" dirty="0"/>
              <a:t> and </a:t>
            </a:r>
            <a:r>
              <a:rPr lang="en-US" sz="2400" i="1" dirty="0"/>
              <a:t>c</a:t>
            </a:r>
            <a:r>
              <a:rPr lang="en-US" sz="2400" dirty="0"/>
              <a:t> are constants.</a:t>
            </a:r>
          </a:p>
        </p:txBody>
      </p:sp>
      <p:sp>
        <p:nvSpPr>
          <p:cNvPr id="97288" name="Rectangle 8"/>
          <p:cNvSpPr>
            <a:spLocks noChangeArrowheads="1"/>
          </p:cNvSpPr>
          <p:nvPr/>
        </p:nvSpPr>
        <p:spPr bwMode="auto">
          <a:xfrm>
            <a:off x="8534400" y="6553200"/>
            <a:ext cx="4127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900"/>
              <a:t>1-23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50899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1203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F9CDA63C-D943-4267-A418-79CCA32AFDDD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727710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5" name="TextBox 6"/>
          <p:cNvSpPr txBox="1">
            <a:spLocks noChangeArrowheads="1"/>
          </p:cNvSpPr>
          <p:nvPr/>
        </p:nvSpPr>
        <p:spPr bwMode="auto">
          <a:xfrm>
            <a:off x="7127875" y="5967413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1.3</a:t>
            </a:r>
          </a:p>
        </p:txBody>
      </p:sp>
    </p:spTree>
    <p:extLst>
      <p:ext uri="{BB962C8B-B14F-4D97-AF65-F5344CB8AC3E}">
        <p14:creationId xmlns:p14="http://schemas.microsoft.com/office/powerpoint/2010/main" val="3129140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 </a:t>
            </a:r>
            <a:r>
              <a:rPr lang="en-US" u="sng" dirty="0">
                <a:ea typeface="+mn-ea"/>
                <a:cs typeface="+mn-cs"/>
              </a:rPr>
              <a:t>decision model</a:t>
            </a:r>
            <a:r>
              <a:rPr lang="en-US" dirty="0">
                <a:ea typeface="+mn-ea"/>
                <a:cs typeface="+mn-cs"/>
              </a:rPr>
              <a:t> is a model used to understand, analyze, or facilitate decision making.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Types of model </a:t>
            </a:r>
            <a:r>
              <a:rPr lang="en-US" u="sng" dirty="0">
                <a:ea typeface="+mn-ea"/>
                <a:cs typeface="+mn-cs"/>
              </a:rPr>
              <a:t>input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data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uncontrollable variables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decision variables (controllable)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Types of model </a:t>
            </a:r>
            <a:r>
              <a:rPr lang="en-US" u="sng" dirty="0">
                <a:ea typeface="+mn-ea"/>
                <a:cs typeface="+mn-cs"/>
              </a:rPr>
              <a:t>output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performance measures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behavioral measures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222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E0329A75-5562-474A-B8C7-6344837BF09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4299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54500"/>
          </a:xfrm>
        </p:spPr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/>
              <a:t>                      Nature of Decision Models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975" y="2362200"/>
            <a:ext cx="7667625" cy="2395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3253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1EB83CC7-8F51-4C5E-952E-61C8E5FDCA5F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3254" name="TextBox 6"/>
          <p:cNvSpPr txBox="1">
            <a:spLocks noChangeArrowheads="1"/>
          </p:cNvSpPr>
          <p:nvPr/>
        </p:nvSpPr>
        <p:spPr bwMode="auto">
          <a:xfrm>
            <a:off x="7696200" y="4757738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1.4</a:t>
            </a:r>
          </a:p>
        </p:txBody>
      </p:sp>
    </p:spTree>
    <p:extLst>
      <p:ext uri="{BB962C8B-B14F-4D97-AF65-F5344CB8AC3E}">
        <p14:creationId xmlns:p14="http://schemas.microsoft.com/office/powerpoint/2010/main" val="398393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254500"/>
          </a:xfrm>
        </p:spPr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/>
              <a:t>Example 1.5   A Sales-Promotion Model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/>
              <a:t>In the grocery industry, managers typically need to know how best to use pricing, coupons and advertising strategies to influence sales.</a:t>
            </a:r>
          </a:p>
          <a:p>
            <a:pPr marL="109538" indent="0" eaLnBrk="1" hangingPunct="1">
              <a:spcBef>
                <a:spcPts val="1200"/>
              </a:spcBef>
              <a:buFont typeface="Wingdings 3" pitchFamily="-72" charset="2"/>
              <a:buNone/>
            </a:pPr>
            <a:r>
              <a:rPr lang="en-US"/>
              <a:t>Using Business Analytics, a grocer can develop a model that predicts sales using price, coupons and advertising.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427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B86FB15-217F-4059-9C7B-63C35E9FF884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542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5299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DF06B0FD-3D37-4C00-8E06-D41F820B1C57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565275"/>
            <a:ext cx="7162800" cy="376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952500" y="5638800"/>
            <a:ext cx="50424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097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Sales = 500 – 0.05(price) + 30(coupons)</a:t>
            </a:r>
          </a:p>
          <a:p>
            <a:pPr marL="1097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            +0.08(advertising) + 0.25(price)(advertising)</a:t>
            </a:r>
            <a:endParaRPr lang="en-US" sz="1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644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1566862"/>
          </a:xfrm>
        </p:spPr>
        <p:txBody>
          <a:bodyPr>
            <a:normAutofit fontScale="925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u="sng" dirty="0">
                <a:solidFill>
                  <a:srgbClr val="FFFF00"/>
                </a:solidFill>
                <a:ea typeface="+mn-ea"/>
                <a:cs typeface="+mn-cs"/>
              </a:rPr>
              <a:t>Descriptive Decision Models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Simply tell “what is” and describe relationships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Do not tell managers what to do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057" y="1524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6323" name="Content Placeholder 1"/>
          <p:cNvSpPr txBox="1">
            <a:spLocks/>
          </p:cNvSpPr>
          <p:nvPr/>
        </p:nvSpPr>
        <p:spPr bwMode="auto">
          <a:xfrm>
            <a:off x="739775" y="3810000"/>
            <a:ext cx="4060825" cy="232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10953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None/>
            </a:pPr>
            <a:r>
              <a:rPr lang="en-US" sz="2700"/>
              <a:t>Influence Diagrams visually show how various model elements relate to one another.</a:t>
            </a:r>
          </a:p>
        </p:txBody>
      </p:sp>
      <p:sp>
        <p:nvSpPr>
          <p:cNvPr id="56324" name="TextBox 5"/>
          <p:cNvSpPr txBox="1">
            <a:spLocks noChangeArrowheads="1"/>
          </p:cNvSpPr>
          <p:nvPr/>
        </p:nvSpPr>
        <p:spPr bwMode="auto">
          <a:xfrm>
            <a:off x="533400" y="3028950"/>
            <a:ext cx="7569200" cy="76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600" u="sng"/>
              <a:t>Example 1.6  An Influence Diagram for Total Cost</a:t>
            </a:r>
          </a:p>
          <a:p>
            <a:endParaRPr lang="en-US" sz="1800"/>
          </a:p>
        </p:txBody>
      </p:sp>
      <p:sp>
        <p:nvSpPr>
          <p:cNvPr id="56326" name="Slide Number Placeholder 10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FA684607-583E-4632-BA24-39166F361604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6327" name="TextBox 8"/>
          <p:cNvSpPr txBox="1">
            <a:spLocks noChangeArrowheads="1"/>
          </p:cNvSpPr>
          <p:nvPr/>
        </p:nvSpPr>
        <p:spPr bwMode="auto">
          <a:xfrm>
            <a:off x="7712075" y="6075363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1.5</a:t>
            </a:r>
          </a:p>
        </p:txBody>
      </p:sp>
      <p:pic>
        <p:nvPicPr>
          <p:cNvPr id="5632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8350" y="3886200"/>
            <a:ext cx="3736975" cy="2176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8014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/>
              <a:t>Example 1.7  A Mathematical Model for Total Cost</a:t>
            </a:r>
          </a:p>
          <a:p>
            <a:pPr marL="109538" indent="0" eaLnBrk="1" hangingPunct="1">
              <a:buFont typeface="Wingdings 3" pitchFamily="-72" charset="2"/>
              <a:buNone/>
            </a:pPr>
            <a:endParaRPr lang="en-US"/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/>
              <a:t>   </a:t>
            </a:r>
            <a:r>
              <a:rPr lang="en-US" i="1"/>
              <a:t>TC = F +VQ</a:t>
            </a:r>
            <a:endParaRPr lang="en-US"/>
          </a:p>
          <a:p>
            <a:pPr marL="109538" indent="0" eaLnBrk="1" hangingPunct="1">
              <a:buFont typeface="Wingdings 3" pitchFamily="-72" charset="2"/>
              <a:buNone/>
            </a:pPr>
            <a:endParaRPr lang="en-US"/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/>
              <a:t>TC</a:t>
            </a:r>
            <a:r>
              <a:rPr lang="en-US"/>
              <a:t> is Total Cost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/>
              <a:t>F</a:t>
            </a:r>
            <a:r>
              <a:rPr lang="en-US"/>
              <a:t> is Fixed cost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/>
              <a:t>V</a:t>
            </a:r>
            <a:r>
              <a:rPr lang="en-US"/>
              <a:t> is Variable unit cost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/>
              <a:t>Q</a:t>
            </a:r>
            <a:r>
              <a:rPr lang="en-US"/>
              <a:t> is Quantity produced</a:t>
            </a:r>
          </a:p>
          <a:p>
            <a:pPr marL="109538" indent="0" eaLnBrk="1" hangingPunct="1">
              <a:buFont typeface="Wingdings 3" pitchFamily="-72" charset="2"/>
              <a:buNone/>
            </a:pP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4863" y="2438400"/>
            <a:ext cx="3775075" cy="2765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7348" name="Footer Placeholder 8"/>
          <p:cNvSpPr>
            <a:spLocks noGrp="1"/>
          </p:cNvSpPr>
          <p:nvPr>
            <p:ph type="ftr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Copyright © 2013 Pearson Education, Inc. publishing as Prentice Hall</a:t>
            </a:r>
          </a:p>
        </p:txBody>
      </p:sp>
      <p:sp>
        <p:nvSpPr>
          <p:cNvPr id="57349" name="Slide Number Placeholder 9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8BDF409-904F-47EB-B3DE-91AC97CABC2A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7350" name="TextBox 6"/>
          <p:cNvSpPr txBox="1">
            <a:spLocks noChangeArrowheads="1"/>
          </p:cNvSpPr>
          <p:nvPr/>
        </p:nvSpPr>
        <p:spPr bwMode="auto">
          <a:xfrm>
            <a:off x="7700963" y="5203825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1.6</a:t>
            </a:r>
          </a:p>
        </p:txBody>
      </p:sp>
    </p:spTree>
    <p:extLst>
      <p:ext uri="{BB962C8B-B14F-4D97-AF65-F5344CB8AC3E}">
        <p14:creationId xmlns:p14="http://schemas.microsoft.com/office/powerpoint/2010/main" val="2515925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Content Placeholder 1"/>
          <p:cNvSpPr>
            <a:spLocks noGrp="1"/>
          </p:cNvSpPr>
          <p:nvPr>
            <p:ph idx="1"/>
          </p:nvPr>
        </p:nvSpPr>
        <p:spPr>
          <a:xfrm>
            <a:off x="533400" y="1646237"/>
            <a:ext cx="8229600" cy="4525963"/>
          </a:xfrm>
        </p:spPr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u="sng" dirty="0"/>
              <a:t>Example 1.8   A Break-even Decision Model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 dirty="0"/>
              <a:t>TC</a:t>
            </a:r>
            <a:r>
              <a:rPr lang="en-US" dirty="0"/>
              <a:t>(manufacturing) = $50,000 + $125*</a:t>
            </a:r>
            <a:r>
              <a:rPr lang="en-US" i="1" dirty="0"/>
              <a:t>Q</a:t>
            </a:r>
            <a:endParaRPr lang="en-US" dirty="0"/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i="1" dirty="0"/>
              <a:t>TC</a:t>
            </a:r>
            <a:r>
              <a:rPr lang="en-US" dirty="0"/>
              <a:t>(outsourcing) = $175*</a:t>
            </a:r>
            <a:r>
              <a:rPr lang="en-US" i="1" dirty="0"/>
              <a:t>Q</a:t>
            </a:r>
            <a:endParaRPr lang="en-US" dirty="0"/>
          </a:p>
          <a:p>
            <a:pPr marL="109538" indent="0" eaLnBrk="1" hangingPunct="1">
              <a:spcBef>
                <a:spcPts val="1200"/>
              </a:spcBef>
              <a:buFont typeface="Wingdings 3" pitchFamily="-72" charset="2"/>
              <a:buNone/>
            </a:pPr>
            <a:r>
              <a:rPr lang="en-US" u="sng" dirty="0"/>
              <a:t>Breakeven Point</a:t>
            </a:r>
            <a:r>
              <a:rPr lang="en-US" dirty="0"/>
              <a:t>: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dirty="0"/>
              <a:t>Set </a:t>
            </a:r>
            <a:r>
              <a:rPr lang="en-US" i="1" dirty="0"/>
              <a:t>TC</a:t>
            </a:r>
            <a:r>
              <a:rPr lang="en-US" dirty="0"/>
              <a:t>(manufacturing) 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dirty="0"/>
              <a:t>      = </a:t>
            </a:r>
            <a:r>
              <a:rPr lang="en-US" i="1" dirty="0"/>
              <a:t>TC</a:t>
            </a:r>
            <a:r>
              <a:rPr lang="en-US" dirty="0"/>
              <a:t>(outsourcing)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dirty="0"/>
              <a:t>Solve for </a:t>
            </a:r>
            <a:r>
              <a:rPr lang="en-US" i="1" dirty="0"/>
              <a:t>Q</a:t>
            </a:r>
            <a:r>
              <a:rPr lang="en-US" dirty="0"/>
              <a:t> = 1000 units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5837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991C370-EFD4-4B20-884B-7408BA79BC96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5837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87583" y="3505200"/>
            <a:ext cx="418021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4" name="TextBox 6"/>
          <p:cNvSpPr txBox="1">
            <a:spLocks noChangeArrowheads="1"/>
          </p:cNvSpPr>
          <p:nvPr/>
        </p:nvSpPr>
        <p:spPr bwMode="auto">
          <a:xfrm>
            <a:off x="8037513" y="6172200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1.7</a:t>
            </a:r>
          </a:p>
        </p:txBody>
      </p:sp>
    </p:spTree>
    <p:extLst>
      <p:ext uri="{BB962C8B-B14F-4D97-AF65-F5344CB8AC3E}">
        <p14:creationId xmlns:p14="http://schemas.microsoft.com/office/powerpoint/2010/main" val="30964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Content Placeholder 1"/>
          <p:cNvSpPr>
            <a:spLocks noGrp="1"/>
          </p:cNvSpPr>
          <p:nvPr>
            <p:ph idx="1"/>
          </p:nvPr>
        </p:nvSpPr>
        <p:spPr>
          <a:xfrm>
            <a:off x="533400" y="1493837"/>
            <a:ext cx="8229600" cy="4525963"/>
          </a:xfrm>
        </p:spPr>
        <p:txBody>
          <a:bodyPr>
            <a:normAutofit/>
          </a:bodyPr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sz="2800" u="sng" dirty="0"/>
              <a:t>Example 1.9    A Linear Demand Prediction Model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800" dirty="0"/>
              <a:t>As price increases, demand falls.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3538" y="2689225"/>
            <a:ext cx="5715000" cy="340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55061575-0BF5-4FF7-8D8F-CA73D92AC58A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9398" name="TextBox 6"/>
          <p:cNvSpPr txBox="1">
            <a:spLocks noChangeArrowheads="1"/>
          </p:cNvSpPr>
          <p:nvPr/>
        </p:nvSpPr>
        <p:spPr bwMode="auto">
          <a:xfrm>
            <a:off x="6589713" y="5775325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1.8</a:t>
            </a:r>
          </a:p>
        </p:txBody>
      </p:sp>
    </p:spTree>
    <p:extLst>
      <p:ext uri="{BB962C8B-B14F-4D97-AF65-F5344CB8AC3E}">
        <p14:creationId xmlns:p14="http://schemas.microsoft.com/office/powerpoint/2010/main" val="4107308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Content Placeholder 1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859338"/>
          </a:xfrm>
        </p:spPr>
        <p:txBody>
          <a:bodyPr/>
          <a:lstStyle/>
          <a:p>
            <a:pPr marL="109538" indent="0" eaLnBrk="1" hangingPunct="1">
              <a:buFont typeface="Wingdings 3" pitchFamily="-72" charset="2"/>
              <a:buNone/>
            </a:pPr>
            <a:r>
              <a:rPr lang="en-US" sz="2600" u="sng" dirty="0"/>
              <a:t>Example 1.10   A Nonlinear Demand Prediction Model</a:t>
            </a:r>
          </a:p>
          <a:p>
            <a:pPr marL="109538" indent="0" eaLnBrk="1" hangingPunct="1">
              <a:buFont typeface="Wingdings 3" pitchFamily="-72" charset="2"/>
              <a:buNone/>
            </a:pPr>
            <a:r>
              <a:rPr lang="en-US" sz="2600" dirty="0"/>
              <a:t>Assumes price elasticity (constant ratio of % change in demand to % change in price)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6042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37156255-925C-472C-854E-7A77F1594D77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6042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819400"/>
            <a:ext cx="5715000" cy="347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2" name="TextBox 6"/>
          <p:cNvSpPr txBox="1">
            <a:spLocks noChangeArrowheads="1"/>
          </p:cNvSpPr>
          <p:nvPr/>
        </p:nvSpPr>
        <p:spPr bwMode="auto">
          <a:xfrm>
            <a:off x="6562725" y="6062663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/>
              <a:t>Figure 1.9</a:t>
            </a:r>
          </a:p>
        </p:txBody>
      </p:sp>
    </p:spTree>
    <p:extLst>
      <p:ext uri="{BB962C8B-B14F-4D97-AF65-F5344CB8AC3E}">
        <p14:creationId xmlns:p14="http://schemas.microsoft.com/office/powerpoint/2010/main" val="407016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u="sng" dirty="0">
                <a:solidFill>
                  <a:srgbClr val="FFFF00"/>
                </a:solidFill>
              </a:rPr>
              <a:t>Predictive Decision Models </a:t>
            </a:r>
            <a:r>
              <a:rPr lang="en-US" dirty="0"/>
              <a:t>often incorporate uncertainty to help managers analyze risk.</a:t>
            </a:r>
          </a:p>
          <a:p>
            <a:pPr eaLnBrk="1" hangingPunct="1"/>
            <a:r>
              <a:rPr lang="en-US" dirty="0"/>
              <a:t>Aim to predict what will happen in the future.</a:t>
            </a:r>
          </a:p>
          <a:p>
            <a:pPr eaLnBrk="1" hangingPunct="1"/>
            <a:r>
              <a:rPr lang="en-US" u="sng" dirty="0"/>
              <a:t>Uncertainty</a:t>
            </a:r>
            <a:r>
              <a:rPr lang="en-US" dirty="0"/>
              <a:t> is imperfect knowledge of what will happen in the future.</a:t>
            </a:r>
          </a:p>
          <a:p>
            <a:pPr eaLnBrk="1" hangingPunct="1"/>
            <a:r>
              <a:rPr lang="en-US" u="sng" dirty="0"/>
              <a:t>Risk</a:t>
            </a:r>
            <a:r>
              <a:rPr lang="en-US" dirty="0"/>
              <a:t> is associated with the consequences of what actually happens.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6144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A07C0465-1E8E-4D16-A8C1-F695016D3332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678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b="1" u="sng" dirty="0">
                <a:solidFill>
                  <a:srgbClr val="FFFF00"/>
                </a:solidFill>
                <a:ea typeface="+mn-ea"/>
                <a:cs typeface="+mn-cs"/>
              </a:rPr>
              <a:t>Prescriptive Decision Models</a:t>
            </a:r>
            <a:r>
              <a:rPr lang="en-US" b="1" dirty="0">
                <a:solidFill>
                  <a:srgbClr val="FFFF00"/>
                </a:solidFill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help decision makers identify the best solution.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Optimization</a:t>
            </a:r>
            <a:r>
              <a:rPr lang="en-US" dirty="0">
                <a:ea typeface="+mn-ea"/>
                <a:cs typeface="+mn-cs"/>
              </a:rPr>
              <a:t> - finding values of decision variables that minimize (or maximize) something such as cost (or profit).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Objective function</a:t>
            </a:r>
            <a:r>
              <a:rPr lang="en-US" b="1" dirty="0"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- the equation that minimizes (or maximizes) the quantity of interest.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Constraints</a:t>
            </a:r>
            <a:r>
              <a:rPr lang="en-US" dirty="0">
                <a:ea typeface="+mn-ea"/>
                <a:cs typeface="+mn-cs"/>
              </a:rPr>
              <a:t> - limitations or restrictions.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Optimal solution</a:t>
            </a:r>
            <a:r>
              <a:rPr lang="en-US" dirty="0">
                <a:ea typeface="+mn-ea"/>
                <a:cs typeface="+mn-cs"/>
              </a:rPr>
              <a:t> - values of the decision variables at the minimum (or maximum) point.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6246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A9CE56E1-8D5D-47A7-9521-6E424CD5497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9564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Example 1.11  A Pricing Model</a:t>
            </a: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 firm wishes to determine the best pricing for one of its products in order to maximize revenue.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Analysts determined the following model: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Sales = -2.9485(price) + 3240.9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Total revenue = (price)(sales)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Identify the price that maximizes total revenue, subject to any constraints that might exist.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6349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DE821500-969E-4A15-976F-A6CDA5B5B694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1781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u="sng"/>
              <a:t>Deterministic</a:t>
            </a:r>
            <a:r>
              <a:rPr lang="en-US"/>
              <a:t> prescriptive models have inputs that are known with certainty.</a:t>
            </a:r>
          </a:p>
          <a:p>
            <a:pPr eaLnBrk="1" hangingPunct="1"/>
            <a:r>
              <a:rPr lang="en-US" u="sng"/>
              <a:t>Stochastic</a:t>
            </a:r>
            <a:r>
              <a:rPr lang="en-US"/>
              <a:t> prescriptive models have one or more inputs that are </a:t>
            </a:r>
            <a:r>
              <a:rPr lang="en-US" u="sng"/>
              <a:t>not</a:t>
            </a:r>
            <a:r>
              <a:rPr lang="en-US"/>
              <a:t> known with certainty.</a:t>
            </a:r>
          </a:p>
          <a:p>
            <a:pPr eaLnBrk="1" hangingPunct="1"/>
            <a:r>
              <a:rPr lang="en-US" u="sng"/>
              <a:t>Algorithms</a:t>
            </a:r>
            <a:r>
              <a:rPr lang="en-US"/>
              <a:t> are systematic procedures used to find optimal solutions to decision models.</a:t>
            </a:r>
          </a:p>
          <a:p>
            <a:pPr eaLnBrk="1" hangingPunct="1"/>
            <a:r>
              <a:rPr lang="en-US" u="sng"/>
              <a:t>Search algorithms</a:t>
            </a:r>
            <a:r>
              <a:rPr lang="en-US" b="1"/>
              <a:t> </a:t>
            </a:r>
            <a:r>
              <a:rPr lang="en-US"/>
              <a:t>are used for complex problems to find a good solution without guaranteeing an optimal solution.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Decision Models</a:t>
            </a:r>
          </a:p>
        </p:txBody>
      </p:sp>
      <p:sp>
        <p:nvSpPr>
          <p:cNvPr id="6451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A1873CE8-23B2-4E03-AB7C-9003A6CB975B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5413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BA represents only a portion of the overall problem solving and decision making process.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u="sng" dirty="0">
                <a:ea typeface="+mn-ea"/>
                <a:cs typeface="+mn-cs"/>
              </a:rPr>
              <a:t>Six steps in the problem solving process</a:t>
            </a:r>
            <a:endParaRPr lang="en-US" dirty="0">
              <a:ea typeface="+mn-ea"/>
              <a:cs typeface="+mn-cs"/>
            </a:endParaRP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1. Recognizing the problem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2. Defining the problem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3. Structuring the problem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4. Analyzing the problem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5. Interpreting results and making a decision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6. Implementing the solution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6554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E7D267A-09EB-48E3-8C62-FC607211EE04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2752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1. </a:t>
            </a:r>
            <a:r>
              <a:rPr lang="en-US" u="sng" dirty="0">
                <a:ea typeface="+mn-ea"/>
                <a:cs typeface="+mn-cs"/>
              </a:rPr>
              <a:t>Recognizing the Problem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Problems exist when there is a gap between what is happening and what we think should be happening.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For example, costs are too high compared with competitors.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6656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36D0EAF-C52A-4B4D-A5CD-311D6AA7CFEF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2040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2. </a:t>
            </a:r>
            <a:r>
              <a:rPr lang="en-US" u="sng" dirty="0">
                <a:ea typeface="+mn-ea"/>
                <a:cs typeface="+mn-cs"/>
              </a:rPr>
              <a:t>Defining the Problem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Clearly defining the problem is not a trivial task.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Complexity increases when the following occur: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large number of courses of action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several competing objectives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external groups are affected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problem owner and problem solver are not the 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  same person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   - time constraints exist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6758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648E6976-9CE8-476B-974C-03F781BB1681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5635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3. </a:t>
            </a:r>
            <a:r>
              <a:rPr lang="en-US" u="sng" dirty="0">
                <a:ea typeface="+mn-ea"/>
                <a:cs typeface="+mn-cs"/>
              </a:rPr>
              <a:t>Structuring the Problem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Stating goals and objectives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Characterizing the possible decisions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Identifying any constraints or restrictions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68612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BB7B961-2DD7-40F9-802A-A92D965B93BB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0225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4. </a:t>
            </a:r>
            <a:r>
              <a:rPr lang="en-US" u="sng" dirty="0">
                <a:ea typeface="+mn-ea"/>
                <a:cs typeface="+mn-cs"/>
              </a:rPr>
              <a:t>Analyzing the Problem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Identifying and applying appropriate Business Analytics techniques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Typically involves experimentation, statistical analysis, or a solution process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Much of this course is devoted to learning BA techniques for use in Step 4.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69636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7DC80AE-7605-441D-B0E8-72812C90AB07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9393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5. </a:t>
            </a:r>
            <a:r>
              <a:rPr lang="en-US" u="sng" dirty="0">
                <a:ea typeface="+mn-ea"/>
                <a:cs typeface="+mn-cs"/>
              </a:rPr>
              <a:t>Interpreting Results and Making a Decision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Managers interpret the results from the analysis phase.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Incorporate subjective judgment as needed.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Understand limitations and model assumptions.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Make a decision utilizing the above information.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7066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9DDA9C06-1985-41DD-9DAB-FD312D31AAA0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800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6. </a:t>
            </a:r>
            <a:r>
              <a:rPr lang="en-US" u="sng" dirty="0">
                <a:ea typeface="+mn-ea"/>
                <a:cs typeface="+mn-cs"/>
              </a:rPr>
              <a:t>Implementing the Solution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Translate the results of the model back to the real world.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Make the solution work in the organization by providing adequate training and resources.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7168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5F2CC946-9EDC-4F87-A58D-7E11889E9156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732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60500"/>
            <a:ext cx="8229600" cy="4711700"/>
          </a:xfrm>
        </p:spPr>
        <p:txBody>
          <a:bodyPr>
            <a:normAutofit fontScale="77500" lnSpcReduction="2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Analytics in Practice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500" u="sng" dirty="0">
                <a:ea typeface="+mn-ea"/>
                <a:cs typeface="+mn-cs"/>
              </a:rPr>
              <a:t>Developing Effective Analytical Tools 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500" dirty="0">
                <a:ea typeface="+mn-ea"/>
                <a:cs typeface="+mn-cs"/>
              </a:rPr>
              <a:t>    </a:t>
            </a:r>
            <a:r>
              <a:rPr lang="en-US" sz="2500" u="sng" dirty="0">
                <a:ea typeface="+mn-ea"/>
                <a:cs typeface="+mn-cs"/>
              </a:rPr>
              <a:t>at Hewlett-Packard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Will analytics solve the problem?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Can they leverage an existing solution?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Is a decision model really needed?</a:t>
            </a:r>
          </a:p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>
                <a:ea typeface="+mn-ea"/>
                <a:cs typeface="+mn-cs"/>
              </a:rPr>
              <a:t>Guidelines for successful implementation: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Use prototyping.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Build insight, not black boxes.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Remove unneeded complexity.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Partner with end users in discovery and design.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Develop an analytic champion.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Problem Solving and Decision Making</a:t>
            </a:r>
          </a:p>
        </p:txBody>
      </p:sp>
      <p:sp>
        <p:nvSpPr>
          <p:cNvPr id="72708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F1252810-75CB-4AB3-A60D-2A807E8E6AD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pic>
        <p:nvPicPr>
          <p:cNvPr id="7270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1470025"/>
            <a:ext cx="222567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5145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Content Placeholder 1"/>
          <p:cNvSpPr>
            <a:spLocks noGrp="1"/>
          </p:cNvSpPr>
          <p:nvPr>
            <p:ph idx="1"/>
          </p:nvPr>
        </p:nvSpPr>
        <p:spPr>
          <a:xfrm>
            <a:off x="468313" y="1512887"/>
            <a:ext cx="3951287" cy="4648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/>
              <a:t>Algorithm</a:t>
            </a:r>
          </a:p>
          <a:p>
            <a:pPr eaLnBrk="1" hangingPunct="1"/>
            <a:r>
              <a:rPr lang="en-US" dirty="0"/>
              <a:t>Business analytics</a:t>
            </a:r>
          </a:p>
          <a:p>
            <a:pPr eaLnBrk="1" hangingPunct="1"/>
            <a:r>
              <a:rPr lang="en-US" dirty="0"/>
              <a:t>Business intelligence</a:t>
            </a:r>
          </a:p>
          <a:p>
            <a:pPr eaLnBrk="1" hangingPunct="1"/>
            <a:r>
              <a:rPr lang="en-US" dirty="0"/>
              <a:t>Categorical (nominal) data</a:t>
            </a:r>
          </a:p>
          <a:p>
            <a:pPr eaLnBrk="1" hangingPunct="1"/>
            <a:r>
              <a:rPr lang="en-US" dirty="0"/>
              <a:t>Constraint</a:t>
            </a:r>
          </a:p>
          <a:p>
            <a:pPr eaLnBrk="1" hangingPunct="1"/>
            <a:r>
              <a:rPr lang="en-US" dirty="0"/>
              <a:t>Continuous metric</a:t>
            </a:r>
          </a:p>
          <a:p>
            <a:pPr eaLnBrk="1" hangingPunct="1"/>
            <a:r>
              <a:rPr lang="en-US" dirty="0"/>
              <a:t>Data set</a:t>
            </a:r>
          </a:p>
          <a:p>
            <a:pPr eaLnBrk="1" hangingPunct="1"/>
            <a:r>
              <a:rPr lang="en-US" dirty="0"/>
              <a:t>Database</a:t>
            </a:r>
          </a:p>
          <a:p>
            <a:pPr eaLnBrk="1" hangingPunct="1"/>
            <a:r>
              <a:rPr lang="en-US" dirty="0"/>
              <a:t>Decision model</a:t>
            </a:r>
          </a:p>
          <a:p>
            <a:pPr eaLnBrk="1" hangingPunct="1"/>
            <a:endParaRPr lang="en-US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D6782B5B-7F36-4C9E-B838-D57318D6698A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Chapter 1 - Key Terms</a:t>
            </a:r>
          </a:p>
        </p:txBody>
      </p:sp>
      <p:sp>
        <p:nvSpPr>
          <p:cNvPr id="73733" name="Content Placeholder 1"/>
          <p:cNvSpPr txBox="1">
            <a:spLocks/>
          </p:cNvSpPr>
          <p:nvPr/>
        </p:nvSpPr>
        <p:spPr bwMode="auto">
          <a:xfrm>
            <a:off x="4691063" y="1525587"/>
            <a:ext cx="3952875" cy="464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Decision support systems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Descriptive statistics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Deterministic model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Discrete metric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Entities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Fields (attributes)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Influence diagram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Interval data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 dirty="0"/>
              <a:t>Management science (MS)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337023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Content Placeholder 1"/>
          <p:cNvSpPr>
            <a:spLocks noGrp="1"/>
          </p:cNvSpPr>
          <p:nvPr>
            <p:ph idx="1"/>
          </p:nvPr>
        </p:nvSpPr>
        <p:spPr>
          <a:xfrm>
            <a:off x="468313" y="1524000"/>
            <a:ext cx="3951287" cy="4648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/>
              <a:t>Measure</a:t>
            </a:r>
          </a:p>
          <a:p>
            <a:pPr eaLnBrk="1" hangingPunct="1"/>
            <a:r>
              <a:rPr lang="en-US"/>
              <a:t>Measurement</a:t>
            </a:r>
          </a:p>
          <a:p>
            <a:pPr eaLnBrk="1" hangingPunct="1"/>
            <a:r>
              <a:rPr lang="en-US"/>
              <a:t>Metric</a:t>
            </a:r>
          </a:p>
          <a:p>
            <a:pPr eaLnBrk="1" hangingPunct="1"/>
            <a:r>
              <a:rPr lang="en-US"/>
              <a:t>Model</a:t>
            </a:r>
          </a:p>
          <a:p>
            <a:pPr eaLnBrk="1" hangingPunct="1"/>
            <a:r>
              <a:rPr lang="en-US"/>
              <a:t>Objective function</a:t>
            </a:r>
          </a:p>
          <a:p>
            <a:pPr eaLnBrk="1" hangingPunct="1"/>
            <a:r>
              <a:rPr lang="en-US"/>
              <a:t>Operations research (OR)</a:t>
            </a:r>
          </a:p>
          <a:p>
            <a:pPr eaLnBrk="1" hangingPunct="1"/>
            <a:r>
              <a:rPr lang="en-US"/>
              <a:t>Optimal solution</a:t>
            </a:r>
          </a:p>
          <a:p>
            <a:pPr eaLnBrk="1" hangingPunct="1"/>
            <a:r>
              <a:rPr lang="en-US"/>
              <a:t>Optimization</a:t>
            </a:r>
          </a:p>
          <a:p>
            <a:pPr eaLnBrk="1" hangingPunct="1"/>
            <a:r>
              <a:rPr lang="en-US"/>
              <a:t>Ordinal data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74755" name="Slide Number Placeholder 3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4D85A78B-8B9E-408A-BE4B-6CE21B302C0F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Chapter 1 - Key Terms (continued)</a:t>
            </a:r>
          </a:p>
        </p:txBody>
      </p:sp>
      <p:sp>
        <p:nvSpPr>
          <p:cNvPr id="74757" name="Content Placeholder 1"/>
          <p:cNvSpPr txBox="1">
            <a:spLocks/>
          </p:cNvSpPr>
          <p:nvPr/>
        </p:nvSpPr>
        <p:spPr bwMode="auto">
          <a:xfrm>
            <a:off x="4691063" y="1536700"/>
            <a:ext cx="3952875" cy="464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Predictive analytics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Prescriptive analytics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Problem solving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Ratio data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Risk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Search Algorithm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Stochastic model</a:t>
            </a:r>
          </a:p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-72" charset="2"/>
              <a:buChar char=""/>
            </a:pPr>
            <a:r>
              <a:rPr lang="en-US" sz="2700"/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3661640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305800" cy="4525962"/>
          </a:xfrm>
        </p:spPr>
        <p:txBody>
          <a:bodyPr>
            <a:normAutofit fontScale="925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u="sng" dirty="0">
                <a:ea typeface="+mn-ea"/>
                <a:cs typeface="+mn-cs"/>
              </a:rPr>
              <a:t>www.puzzlOR.com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Maintained by an analytics manager at ARAMARK.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Each month a new puzzle is posted.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Many puzzles can be solved using techniques you will learn in this course.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The puzzles are fun challenges.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A good one to start with is </a:t>
            </a:r>
            <a:r>
              <a:rPr lang="en-US" dirty="0" err="1">
                <a:ea typeface="+mn-ea"/>
                <a:cs typeface="+mn-cs"/>
              </a:rPr>
              <a:t>SurvivOR</a:t>
            </a:r>
            <a:r>
              <a:rPr lang="en-US" dirty="0">
                <a:ea typeface="+mn-ea"/>
                <a:cs typeface="+mn-cs"/>
              </a:rPr>
              <a:t> (June 2010).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ea typeface="+mn-ea"/>
                <a:cs typeface="+mn-cs"/>
              </a:rPr>
              <a:t>Have fun!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Fun with Analytics</a:t>
            </a:r>
          </a:p>
        </p:txBody>
      </p:sp>
      <p:sp>
        <p:nvSpPr>
          <p:cNvPr id="75780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8532D213-F80D-451E-9782-EDF2E8989C2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9490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Content Placeholder 1"/>
          <p:cNvSpPr>
            <a:spLocks noGrp="1"/>
          </p:cNvSpPr>
          <p:nvPr>
            <p:ph idx="1"/>
          </p:nvPr>
        </p:nvSpPr>
        <p:spPr>
          <a:xfrm>
            <a:off x="457200" y="1450975"/>
            <a:ext cx="8305800" cy="47974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ts val="3000"/>
              </a:lnSpc>
            </a:pPr>
            <a:r>
              <a:rPr lang="en-US"/>
              <a:t>PLE is headquartered in St. Louis and produces lawnmowers as well as a recently added a medium size diesel power lawn tractor.</a:t>
            </a:r>
          </a:p>
          <a:p>
            <a:pPr eaLnBrk="1" hangingPunct="1">
              <a:lnSpc>
                <a:spcPts val="3000"/>
              </a:lnSpc>
              <a:spcBef>
                <a:spcPts val="1200"/>
              </a:spcBef>
            </a:pPr>
            <a:r>
              <a:rPr lang="en-US"/>
              <a:t>The Excel workbook </a:t>
            </a:r>
            <a:r>
              <a:rPr lang="en-US" i="1"/>
              <a:t>Performance Lawn Equipment </a:t>
            </a:r>
            <a:r>
              <a:rPr lang="en-US"/>
              <a:t>contains performance data that is used by managers to evaluate business performance.</a:t>
            </a:r>
          </a:p>
          <a:p>
            <a:pPr eaLnBrk="1" hangingPunct="1">
              <a:lnSpc>
                <a:spcPts val="3000"/>
              </a:lnSpc>
              <a:spcBef>
                <a:spcPts val="1200"/>
              </a:spcBef>
            </a:pPr>
            <a:r>
              <a:rPr lang="en-US"/>
              <a:t>As chief analyst to the productions and operations manager, you need to review all of the Excel worksheets and prepare a report summarizing the sources of the data, the types of data measures used, and the characteristics of the metrics used.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  <a:cs typeface="+mj-cs"/>
              </a:rPr>
              <a:t>Case Study </a:t>
            </a:r>
            <a:br>
              <a:rPr lang="en-US" sz="3200" dirty="0">
                <a:ea typeface="+mj-ea"/>
                <a:cs typeface="+mj-cs"/>
              </a:rPr>
            </a:br>
            <a:r>
              <a:rPr lang="en-US" sz="3200" dirty="0">
                <a:ea typeface="+mj-ea"/>
                <a:cs typeface="+mj-cs"/>
              </a:rPr>
              <a:t>Performance Lawn Equipment (PLE)</a:t>
            </a:r>
          </a:p>
        </p:txBody>
      </p:sp>
      <p:sp>
        <p:nvSpPr>
          <p:cNvPr id="76804" name="Slide Number Placeholder 8"/>
          <p:cNvSpPr>
            <a:spLocks noGrp="1"/>
          </p:cNvSpPr>
          <p:nvPr>
            <p:ph type="sldNum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ea typeface="ＭＳ Ｐゴシック" pitchFamily="-72" charset="-128"/>
                <a:cs typeface="ＭＳ Ｐゴシック" pitchFamily="-72" charset="-128"/>
              </a:rPr>
              <a:t>1-</a:t>
            </a:r>
            <a:fld id="{63BE99CB-C808-4E94-AF00-99248E54594E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4719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resource:</a:t>
            </a:r>
          </a:p>
          <a:p>
            <a:pPr lvl="1"/>
            <a:r>
              <a:rPr lang="en-US" i="1" dirty="0"/>
              <a:t>Business Analytics</a:t>
            </a:r>
            <a:r>
              <a:rPr lang="en-US" dirty="0"/>
              <a:t>: </a:t>
            </a:r>
            <a:r>
              <a:rPr lang="en-US" i="1" dirty="0"/>
              <a:t>Methods, Models, and Decisions</a:t>
            </a:r>
            <a:r>
              <a:rPr lang="en-US" dirty="0"/>
              <a:t>, 1</a:t>
            </a:r>
            <a:r>
              <a:rPr lang="en-US" baseline="30000" dirty="0"/>
              <a:t>st</a:t>
            </a:r>
            <a:r>
              <a:rPr lang="en-US" dirty="0"/>
              <a:t> edition - James R. Evans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68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2100</Words>
  <Application>Microsoft Office PowerPoint</Application>
  <PresentationFormat>On-screen Show (4:3)</PresentationFormat>
  <Paragraphs>406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ＭＳ Ｐゴシック</vt:lpstr>
      <vt:lpstr>Arial</vt:lpstr>
      <vt:lpstr>Calibri</vt:lpstr>
      <vt:lpstr>Wingdings 3</vt:lpstr>
      <vt:lpstr>Office Theme</vt:lpstr>
      <vt:lpstr>Business Analytics  Introduction </vt:lpstr>
      <vt:lpstr>Learning Objectives</vt:lpstr>
      <vt:lpstr>What is Business Analytics?</vt:lpstr>
      <vt:lpstr>What is Business Analytics?</vt:lpstr>
      <vt:lpstr>What is Business Analytics?</vt:lpstr>
      <vt:lpstr>Evolution of Business Analytics</vt:lpstr>
      <vt:lpstr>Scope of Business Analytics</vt:lpstr>
      <vt:lpstr>Scope of Business Analytics</vt:lpstr>
      <vt:lpstr>Scope of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Data for Business Analytics</vt:lpstr>
      <vt:lpstr>Decision Models</vt:lpstr>
      <vt:lpstr>PowerPoint Presentation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Decision Models</vt:lpstr>
      <vt:lpstr>Problem Solving and Decision Making</vt:lpstr>
      <vt:lpstr>Problem Solving and Decision Making</vt:lpstr>
      <vt:lpstr>Problem Solving and Decision Making</vt:lpstr>
      <vt:lpstr>Problem Solving and Decision Making</vt:lpstr>
      <vt:lpstr>Problem Solving and Decision Making</vt:lpstr>
      <vt:lpstr>Problem Solving and Decision Making</vt:lpstr>
      <vt:lpstr>Problem Solving and Decision Making</vt:lpstr>
      <vt:lpstr>Problem Solving and Decision Making</vt:lpstr>
      <vt:lpstr>Chapter 1 - Key Terms</vt:lpstr>
      <vt:lpstr>Chapter 1 - Key Terms (continued)</vt:lpstr>
      <vt:lpstr>Fun with Analytics</vt:lpstr>
      <vt:lpstr>Case Study  Performance Lawn Equipment (PLE)</vt:lpstr>
      <vt:lpstr>Thank you..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Induranga</dc:creator>
  <cp:lastModifiedBy>Dileepa Hewapaula</cp:lastModifiedBy>
  <cp:revision>494</cp:revision>
  <dcterms:created xsi:type="dcterms:W3CDTF">2006-08-16T00:00:00Z</dcterms:created>
  <dcterms:modified xsi:type="dcterms:W3CDTF">2026-06-02T04:54:56Z</dcterms:modified>
</cp:coreProperties>
</file>